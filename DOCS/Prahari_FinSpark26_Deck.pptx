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🛡️  PRAHARI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00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C83C"/>
                </a:solidFill>
                <a:latin typeface="Calibri"/>
              </a:rPr>
              <a:t>Privileged-Access Insider-Threat Detection &amp; Management for Banks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3C2B7"/>
                </a:solidFill>
                <a:latin typeface="Calibri"/>
              </a:rPr>
              <a:t>Catch a risky insider — malicious, negligent or compromised — in real time, respond automatically, and keep the proof quantum-safe.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FinSpark'26  ·  Bank of Maharashtra  ·  Problem Statement 1: Privileged Access Misuse &amp; Insider Threat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98781"/>
                </a:solidFill>
                <a:latin typeface="Calibri"/>
              </a:rPr>
              <a:t>Team: &lt;your team name&gt;  ·  github.com/positromen/FinSpark-26-Trial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Calibri"/>
              </a:rPr>
              <a:t>PS1 — Privileged Access Misuse &amp; Insider Threat Detection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Banks are well defended against outsiders, but the costliest breaches come from trusted insiders — admins, DBAs, IT staff and vendors who already hold privileged access.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The threat has three faces the solution must handle explicitly: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Malicious — deliberate theft/sabotage (e.g. a dormant vendor bulk-exports customer records at 2 AM).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Negligent — well-meaning policy breaches (expired vendor access still in use; sensitive data on a personal laptop).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Compromised — a legitimate account taken over (new geography/device, rapid-fire actions).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Dormant &amp; vendor accounts, privilege escalation, and tamperable audit logs make misuse hard to detect and even harder to prove.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“Harvest-now, decrypt-later”: credentials &amp; audit evidence encrypted with classical crypto today can be broken by future quantum computers.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Why we chose it: highest business impact for a bank (fraud loss, RBI compliance, customer trust) and it lets us fuse real-time AI/UEBA, PAM controls and post-quantum cryptography into one defensible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Calibri"/>
              </a:rPr>
              <a:t>Prahari (“sentinel”) — what it does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A Privileged Access Management + insider-threat platform that sits between privileged staff and critical bank systems and does four things: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1. WATCHES every privileged action as a normalized, recorded session (replayable command trail).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2. SCORES each session 0–100 in real time — rule engine + AI behavioural analytics (UEBA) + peer comparison — with a human-readable “why”.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3. RESPONDS adaptively — allow / step-up MFA / maker-checker / block — tagged with the insider type.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4. PROTECTS its own credentials &amp; audit log with NIST post-quantum cryptography (ML-KEM-768 vault + ML-DSA-65 signed hash-chain).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Delivered as a real two-sided product: an Employee Portal (staff act, enforcement happens live) and a SOC Console (analysts watch, replay, and review access).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All six judged outcomes delivered: detect misuse ✓  real-time ✓  AI behavioural ✓  risk-based access control ✓  protect admin systems ✓  quantum-proof crypto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Pre-Requisite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Calibri"/>
              </a:rPr>
              <a:t>Assumptions, access, data, tools and inputs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Assumption: privileged activity is available as a normalized event stream. For the demo a built-in simulator generates it; in production it is fed from PAM/SIEM.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Required access / data: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PAM privileged-session logs; IAM user directory (roles, vendor/dormant flags, access-expiry dates); resource/asset inventory.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Per-event inputs: user, action type, resource, records touched, source IP/geo, device fingerprint, timestamp.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Tools / environment: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Python 3.11+ backend; Node 18+ (front-end build only); a modern browser to view the app.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Runs fully offline on SQLite — no internet, no external API calls at demo time.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PQC provider (liboqs) built once on first setup; afterwards entirely offline.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Security prerequisites: `.env`-driven config, no secrets committed, seeded demo data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Tools or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Calibri"/>
              </a:rPr>
              <a:t>Technologies, frameworks and libraries used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Backend / API: Python 3.14, FastAPI + Uvicorn, SQLAlchemy ORM (SQLite default — Postgres-swappable).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AI / UEBA: scikit-learn IsolationForest (unsupervised anomaly detection) + per-role peer baselining.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Post-quantum crypto: liboqs-python — ML-KEM-768 (FIPS 203) key encapsulation + ML-DSA-65 (FIPS 204) signatures; AES-256-GCM (cryptography) for payloads.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Auth: PBKDF2-HMAC-SHA256 password hashing + HMAC-signed session tokens (standard library — no fragile deps).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Real-time: FastAPI WebSocket push to the SOC console.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Frontend: React 19 + Vite + Tailwind CSS 4 (+ Recharts); dark SOC theme.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Packaging: Docker + docker-compose; one-command run.ps1 / run.sh; prebuilt UI committed for offline demo.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Quality: pytest suite (31 tests — rules, UEBA, scoring, PQC round-trip, auth, live enforcement, scenario distinctness).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How It Works — Detection &amp; Scoring Engine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737360"/>
            <a:ext cx="2743200" cy="960120"/>
          </a:xfrm>
          <a:prstGeom prst="roundRect">
            <a:avLst/>
          </a:prstGeom>
          <a:solidFill>
            <a:srgbClr val="1C607A"/>
          </a:solidFill>
          <a:ln w="12700">
            <a:solidFill>
              <a:srgbClr val="1C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RULE ENGINE
known-bad patterns
(weighted, typed)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2743200" cy="960120"/>
          </a:xfrm>
          <a:prstGeom prst="roundRect">
            <a:avLst/>
          </a:prstGeom>
          <a:solidFill>
            <a:srgbClr val="1C607A"/>
          </a:solidFill>
          <a:ln w="12700">
            <a:solidFill>
              <a:srgbClr val="1C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UEBA — IsolationForest
per-user/role baseline
+ peer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331720"/>
            <a:ext cx="2743200" cy="960120"/>
          </a:xfrm>
          <a:prstGeom prst="roundRect">
            <a:avLst/>
          </a:prstGeom>
          <a:solidFill>
            <a:srgbClr val="3987E5"/>
          </a:solidFill>
          <a:ln w="12700">
            <a:solidFill>
              <a:srgbClr val="398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RISK SCORE 0–100
rules (≤cap) + 0.25×UEBA
+ peer bonus  → “why”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2212848"/>
            <a:ext cx="548640" cy="484632"/>
          </a:xfrm>
          <a:prstGeom prst="line">
            <a:avLst/>
          </a:prstGeom>
          <a:ln w="22225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383280" y="2926080"/>
            <a:ext cx="548640" cy="429768"/>
          </a:xfrm>
          <a:prstGeom prst="line">
            <a:avLst/>
          </a:prstGeom>
          <a:ln w="22225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0" y="1600200"/>
            <a:ext cx="4206240" cy="640080"/>
          </a:xfrm>
          <a:prstGeom prst="roundRect">
            <a:avLst/>
          </a:prstGeom>
          <a:solidFill>
            <a:srgbClr val="0C8A3C"/>
          </a:solidFill>
          <a:ln w="12700">
            <a:solidFill>
              <a:srgbClr val="0C8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ALLOW  (score &lt; 40)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377440"/>
            <a:ext cx="4206240" cy="640080"/>
          </a:xfrm>
          <a:prstGeom prst="roundRect">
            <a:avLst/>
          </a:prstGeom>
          <a:solidFill>
            <a:srgbClr val="E0931A"/>
          </a:solidFill>
          <a:ln w="12700">
            <a:solidFill>
              <a:srgbClr val="E0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1A1A19"/>
                </a:solidFill>
                <a:latin typeface="Calibri"/>
              </a:rPr>
              <a:t>STEP-UP MFA  (40–69)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154680"/>
            <a:ext cx="4206240" cy="640080"/>
          </a:xfrm>
          <a:prstGeom prst="roundRect">
            <a:avLst/>
          </a:prstGeom>
          <a:solidFill>
            <a:srgbClr val="EC835A"/>
          </a:solidFill>
          <a:ln w="12700">
            <a:solidFill>
              <a:srgbClr val="EC8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MAKER-CHECKER  (70–84)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931920"/>
            <a:ext cx="4206240" cy="640080"/>
          </a:xfrm>
          <a:prstGeom prst="roundRect">
            <a:avLst/>
          </a:prstGeom>
          <a:solidFill>
            <a:srgbClr val="D03B3B"/>
          </a:solidFill>
          <a:ln w="12700">
            <a:solidFill>
              <a:srgbClr val="D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BLOCK  (≥ 85)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75120" y="2788920"/>
            <a:ext cx="640080" cy="0"/>
          </a:xfrm>
          <a:prstGeom prst="line">
            <a:avLst/>
          </a:prstGeom>
          <a:ln w="22225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4892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E1E1E"/>
                </a:solidFill>
                <a:latin typeface="Calibri"/>
              </a:rPr>
              <a:t>• Type-aware policy: negligence is floored to maker-checker review and never auto-blocked; malicious blocks; compromised steps up.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E1E1E"/>
                </a:solidFill>
                <a:latin typeface="Calibri"/>
              </a:rPr>
              <a:t>• Every decision ships a plain-English reason breakdown — explainable AI an auditor can read.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E1E1E"/>
                </a:solidFill>
                <a:latin typeface="Calibri"/>
              </a:rPr>
              <a:t>• UEBA is a secondary nudge; the stable, explainable rule engine sets the band.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Three Insider Types — One Engine, Three Responses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91640"/>
            <a:ext cx="3611880" cy="548640"/>
          </a:xfrm>
          <a:prstGeom prst="roundRect">
            <a:avLst/>
          </a:prstGeom>
          <a:solidFill>
            <a:srgbClr val="D03B3B"/>
          </a:solidFill>
          <a:ln w="12700">
            <a:solidFill>
              <a:srgbClr val="D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MALICIOUS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611880" cy="105156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F2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1E1E1E"/>
                </a:solidFill>
                <a:latin typeface="Calibri"/>
              </a:rPr>
              <a:t>Dormant vendor, 2 AM,
privilege escalation,
bulk-export 5000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66160"/>
            <a:ext cx="3611880" cy="1234440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EE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1E1E1E"/>
                </a:solidFill>
                <a:latin typeface="Calibri"/>
              </a:rPr>
              <a:t>Signals: dormant reactivation,
privilege escalation, mass export,
out-of-role, after-hours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937760"/>
            <a:ext cx="3611880" cy="640080"/>
          </a:xfrm>
          <a:prstGeom prst="roundRect">
            <a:avLst/>
          </a:prstGeom>
          <a:solidFill>
            <a:srgbClr val="D03B3B"/>
          </a:solidFill>
          <a:ln w="12700">
            <a:solidFill>
              <a:srgbClr val="D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→ BLOCK  (100/100)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611880" cy="548640"/>
          </a:xfrm>
          <a:prstGeom prst="roundRect">
            <a:avLst/>
          </a:prstGeom>
          <a:solidFill>
            <a:srgbClr val="3987E5"/>
          </a:solidFill>
          <a:ln w="12700">
            <a:solidFill>
              <a:srgbClr val="398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COMPROMISED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377440"/>
            <a:ext cx="3611880" cy="105156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F2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1E1E1E"/>
                </a:solidFill>
                <a:latin typeface="Calibri"/>
              </a:rPr>
              <a:t>Normal admin account,
new country + device,
6 actions in 90 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566160"/>
            <a:ext cx="3611880" cy="1234440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EE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1E1E1E"/>
                </a:solidFill>
                <a:latin typeface="Calibri"/>
              </a:rPr>
              <a:t>Signals: new geo, new device,
atypical hour, rapid-fire
(inconsistent with human pace)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937760"/>
            <a:ext cx="3611880" cy="640080"/>
          </a:xfrm>
          <a:prstGeom prst="roundRect">
            <a:avLst/>
          </a:prstGeom>
          <a:solidFill>
            <a:srgbClr val="3987E5"/>
          </a:solidFill>
          <a:ln w="12700">
            <a:solidFill>
              <a:srgbClr val="398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→ STEP-UP MFA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91640"/>
            <a:ext cx="3611880" cy="548640"/>
          </a:xfrm>
          <a:prstGeom prst="roundRect">
            <a:avLst/>
          </a:prstGeom>
          <a:solidFill>
            <a:srgbClr val="E0931A"/>
          </a:solidFill>
          <a:ln w="12700">
            <a:solidFill>
              <a:srgbClr val="E0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1A1A19"/>
                </a:solidFill>
                <a:latin typeface="Calibri"/>
              </a:rPr>
              <a:t>NEGLIGENT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377440"/>
            <a:ext cx="3611880" cy="105156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F2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1E1E1E"/>
                </a:solidFill>
                <a:latin typeface="Calibri"/>
              </a:rPr>
              <a:t>Active vendor, access
expired 18 days ago,
reports from personal laptop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566160"/>
            <a:ext cx="3611880" cy="1234440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EE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1E1E1E"/>
                </a:solidFill>
                <a:latin typeface="Calibri"/>
              </a:rPr>
              <a:t>Signals: expired access in use,
unmanaged/personal device,
sensitive data touched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4937760"/>
            <a:ext cx="3611880" cy="640080"/>
          </a:xfrm>
          <a:prstGeom prst="roundRect">
            <a:avLst/>
          </a:prstGeom>
          <a:solidFill>
            <a:srgbClr val="E0931A"/>
          </a:solidFill>
          <a:ln w="12700">
            <a:solidFill>
              <a:srgbClr val="E0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1A1A19"/>
                </a:solidFill>
                <a:latin typeface="Calibri"/>
              </a:rPr>
              <a:t>→ MAKER-CHECKER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Calibri"/>
              </a:rPr>
              <a:t>Same rules + UEBA engine; the dominant rule category sets the insider type, and the response is risk-based on the nature of the risk — not the score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Post-Quantum Security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Calibri"/>
              </a:rPr>
              <a:t>NIST FIPS 203 / 204 — quantum-safe credentials &amp; evidence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607A"/>
                </a:solidFill>
                <a:latin typeface="Calibri"/>
              </a:rPr>
              <a:t>Credential Vault (ML-KEM-768 + AES-256-GCM)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194560" cy="73152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F2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1E1E1E"/>
                </a:solidFill>
                <a:latin typeface="Calibri"/>
              </a:rPr>
              <a:t>Secret
(privileged cred)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965960"/>
            <a:ext cx="2377440" cy="731520"/>
          </a:xfrm>
          <a:prstGeom prst="roundRect">
            <a:avLst/>
          </a:prstGeom>
          <a:solidFill>
            <a:srgbClr val="3987E5"/>
          </a:solidFill>
          <a:ln w="12700">
            <a:solidFill>
              <a:srgbClr val="398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AES-256-GCM
key = ML-KEM secret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4846320" cy="640080"/>
          </a:xfrm>
          <a:prstGeom prst="roundRect">
            <a:avLst/>
          </a:prstGeom>
          <a:solidFill>
            <a:srgbClr val="1C607A"/>
          </a:solidFill>
          <a:ln w="12700">
            <a:solidFill>
              <a:srgbClr val="1C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Stored: ciphertext + KEM ciphertext (decryption needs the KEM secret key)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2331720"/>
            <a:ext cx="274320" cy="0"/>
          </a:xfrm>
          <a:prstGeom prst="line">
            <a:avLst/>
          </a:prstGeom>
          <a:ln w="22225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97680" y="2697480"/>
            <a:ext cx="0" cy="182880"/>
          </a:xfrm>
          <a:prstGeom prst="line">
            <a:avLst/>
          </a:prstGeom>
          <a:ln w="22225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607A"/>
                </a:solidFill>
                <a:latin typeface="Calibri"/>
              </a:rPr>
              <a:t>Tamper-evident Audit Log (ML-DSA-65)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03120"/>
            <a:ext cx="1600200" cy="914400"/>
          </a:xfrm>
          <a:prstGeom prst="roundRect">
            <a:avLst/>
          </a:prstGeom>
          <a:solidFill>
            <a:srgbClr val="1C607A"/>
          </a:solidFill>
          <a:ln w="12700">
            <a:solidFill>
              <a:srgbClr val="1C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Entry n-1
hash(prev)
+ ML-DSA sig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2560320"/>
            <a:ext cx="228600" cy="0"/>
          </a:xfrm>
          <a:prstGeom prst="line">
            <a:avLst/>
          </a:prstGeom>
          <a:ln w="19050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55279" y="2103120"/>
            <a:ext cx="1600200" cy="914400"/>
          </a:xfrm>
          <a:prstGeom prst="roundRect">
            <a:avLst/>
          </a:prstGeom>
          <a:solidFill>
            <a:srgbClr val="1C607A"/>
          </a:solidFill>
          <a:ln w="12700">
            <a:solidFill>
              <a:srgbClr val="1C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Entry n
hash(prev)
+ ML-DSA sig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55480" y="2560320"/>
            <a:ext cx="228600" cy="0"/>
          </a:xfrm>
          <a:prstGeom prst="line">
            <a:avLst/>
          </a:prstGeom>
          <a:ln w="19050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84080" y="2103120"/>
            <a:ext cx="1600200" cy="914400"/>
          </a:xfrm>
          <a:prstGeom prst="roundRect">
            <a:avLst/>
          </a:prstGeom>
          <a:solidFill>
            <a:srgbClr val="1C607A"/>
          </a:solidFill>
          <a:ln w="12700">
            <a:solidFill>
              <a:srgbClr val="1C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Entry n+1
hash(prev)
+ ML-DSA sig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91840"/>
            <a:ext cx="5257800" cy="640080"/>
          </a:xfrm>
          <a:prstGeom prst="roundRect">
            <a:avLst/>
          </a:prstGeom>
          <a:solidFill>
            <a:srgbClr val="D03B3B"/>
          </a:solidFill>
          <a:ln w="12700">
            <a:solidFill>
              <a:srgbClr val="D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Edit any entry → hash breaks → verify_chain() FAILS at that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E1E1E"/>
                </a:solidFill>
                <a:latin typeface="Calibri"/>
              </a:rPr>
              <a:t>• store_secret() / get_secret(): AES key is the ML-KEM-768 shared secret — harvest-now-decrypt-later resistant.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E1E1E"/>
                </a:solidFill>
                <a:latin typeface="Calibri"/>
              </a:rPr>
              <a:t>• append_entry() / verify_chain(): every entry hash-chains the previous and is ML-DSA-65 signed; recomputing hashes isn’t enough — the signature must verify.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E1E1E"/>
                </a:solidFill>
                <a:latin typeface="Calibri"/>
              </a:rPr>
              <a:t>• Live demo: POST /demo/tamper flips one record → verification fails at the exact entry, on stage.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Calibri"/>
              </a:rPr>
              <a:t>Six modules — collection → analytics → scoring → response → PQC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737360"/>
            <a:ext cx="2103120" cy="914400"/>
          </a:xfrm>
          <a:prstGeom prst="roundRect">
            <a:avLst/>
          </a:prstGeom>
          <a:solidFill>
            <a:srgbClr val="60606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Privileged activity
(portal / PAM / SIEM)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37360"/>
            <a:ext cx="2103120" cy="914400"/>
          </a:xfrm>
          <a:prstGeom prst="roundRect">
            <a:avLst/>
          </a:prstGeom>
          <a:solidFill>
            <a:srgbClr val="1C607A"/>
          </a:solidFill>
          <a:ln w="12700">
            <a:solidFill>
              <a:srgbClr val="1C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Collection &amp;
normalization
(Event / Session)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234440"/>
            <a:ext cx="2194560" cy="868680"/>
          </a:xfrm>
          <a:prstGeom prst="roundRect">
            <a:avLst/>
          </a:prstGeom>
          <a:solidFill>
            <a:srgbClr val="1C607A"/>
          </a:solidFill>
          <a:ln w="12700">
            <a:solidFill>
              <a:srgbClr val="1C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UEBA
IsolationForest + peer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286000"/>
            <a:ext cx="2194560" cy="868680"/>
          </a:xfrm>
          <a:prstGeom prst="roundRect">
            <a:avLst/>
          </a:prstGeom>
          <a:solidFill>
            <a:srgbClr val="1C607A"/>
          </a:solidFill>
          <a:ln w="12700">
            <a:solidFill>
              <a:srgbClr val="1C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Rule engine
(3 insider types)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37360"/>
            <a:ext cx="2926080" cy="914400"/>
          </a:xfrm>
          <a:prstGeom prst="roundRect">
            <a:avLst/>
          </a:prstGeom>
          <a:solidFill>
            <a:srgbClr val="3987E5"/>
          </a:solidFill>
          <a:ln w="12700">
            <a:solidFill>
              <a:srgbClr val="398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Risk scoring engine
0–100 + why +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794760"/>
            <a:ext cx="2651760" cy="914400"/>
          </a:xfrm>
          <a:prstGeom prst="roundRect">
            <a:avLst/>
          </a:prstGeom>
          <a:solidFill>
            <a:srgbClr val="EC835A"/>
          </a:solidFill>
          <a:ln w="12700">
            <a:solidFill>
              <a:srgbClr val="EC8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Adaptive access control
MFA / maker-checker / block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794760"/>
            <a:ext cx="2651760" cy="914400"/>
          </a:xfrm>
          <a:prstGeom prst="roundRect">
            <a:avLst/>
          </a:prstGeom>
          <a:solidFill>
            <a:srgbClr val="1C607A"/>
          </a:solidFill>
          <a:ln w="12700">
            <a:solidFill>
              <a:srgbClr val="1C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SOC console
alerts · replay · heatmap · access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5029200"/>
            <a:ext cx="7406640" cy="777240"/>
          </a:xfrm>
          <a:prstGeom prst="roundRect">
            <a:avLst/>
          </a:prstGeom>
          <a:solidFill>
            <a:srgbClr val="0E3C4A"/>
          </a:solidFill>
          <a:ln w="12700"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Post-Quantum Security Layer  —  ML-KEM-768 credential vault  +  ML-DSA-65 signed, hash-chained audit log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2194560"/>
            <a:ext cx="274320" cy="0"/>
          </a:xfrm>
          <a:prstGeom prst="line">
            <a:avLst/>
          </a:prstGeom>
          <a:ln w="22225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37760" y="1691640"/>
            <a:ext cx="548640" cy="502920"/>
          </a:xfrm>
          <a:prstGeom prst="line">
            <a:avLst/>
          </a:prstGeom>
          <a:ln w="22225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37760" y="2194560"/>
            <a:ext cx="548640" cy="521208"/>
          </a:xfrm>
          <a:prstGeom prst="line">
            <a:avLst/>
          </a:prstGeom>
          <a:ln w="22225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60" y="1691640"/>
            <a:ext cx="548640" cy="411480"/>
          </a:xfrm>
          <a:prstGeom prst="line">
            <a:avLst/>
          </a:prstGeom>
          <a:ln w="22225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680960" y="2286000"/>
            <a:ext cx="548640" cy="429768"/>
          </a:xfrm>
          <a:prstGeom prst="line">
            <a:avLst/>
          </a:prstGeom>
          <a:ln w="22225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812280" y="2651760"/>
            <a:ext cx="2880360" cy="1143000"/>
          </a:xfrm>
          <a:prstGeom prst="line">
            <a:avLst/>
          </a:prstGeom>
          <a:ln w="22225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92640" y="2651760"/>
            <a:ext cx="137160" cy="1143000"/>
          </a:xfrm>
          <a:prstGeom prst="line">
            <a:avLst/>
          </a:prstGeom>
          <a:ln w="22225">
            <a:solidFill>
              <a:srgbClr val="1C6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5989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Calibri"/>
              </a:rPr>
              <a:t>SQLite by default (zero-friction, offline) — Postgres-swappable via one connection string; the same Event schema ingests real PAM/SIEM feeds.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Supporting Functional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Calibri"/>
              </a:rPr>
              <a:t>User flows, process notes and references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README.md — quick start, demo accounts, one-command run.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DOCUMENTATION.md — complete technical documentation (architecture, data model, detection math, API, security, deployment) with diagrams.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DEMO_SCRIPT.md — click-by-click 6–7 minute demo narration covering all three insider scenarios, PAM session replay, access review and the audit-tamper moment.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PROJECT_STATUS.md — full project brief, judged-outcome mapping and phase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User flows: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Employee Portal: login → action console → live score → allow / MFA / maker-checker / block.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SOC Console: login → live sessions → select → why-flagged + timeline + session replay → access review → audit verify/tamper.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Logic flows (diagrams in docs): detection→score→response, ML-KEM vault, ML-DSA hash-chain, three-scenario sequences.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Key Differentiators &amp; Adoption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Differentiators: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All THREE insider types (malicious / negligent / compromised) with distinct, correct responses — most tools do anomaly detection only.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A real PAM surface: privileged-session recording (replayable command trail) + access review (dormant / vendor / expired) — not just alerts.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Explainable, graduated enforcement applied LIVE (blocks the action mid-flight), not a passive dashboard.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Working NIST post-quantum crypto for credentials and a tamper-evident audit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Adoption plan (low-risk rollout):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Phase 1 — deploy read-only in monitor mode beside existing PAM/SIEM; learn baselines, no enforcement.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Phase 2 — enable step-up MFA + maker-checker for medium risk; SOC runs replay &amp; access reviews.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Phase 3 — auto-block high-confidence malicious; move crown-jewel credentials into the PQC vault.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Integrations — CyberArk / BeyondTrust PAM, Splunk / QRadar SIEM, bank IdP / SSO.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Uniqueness of Approach and Solution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One engine, three insider types — and a type-aware policy: negligence goes to human review, never an automated block. Response is risk-based on the nature of the risk, not the score alone.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Rules + UEBA fused into a single explainable 0–100 score with human-readable “why” — no black box.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PAM + UEBA + post-quantum crypto combined in one offline-capable product — a combination competitors don’t ship together.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Live enforcement via a real employee portal that stops the action in progress and locks the account — challenged actions aren’t even persisted until allowed.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Post-quantum, tamper-evident audit chain — you literally cannot silently edit the log; forging requires breaking ML-DSA-65.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Session recording replays the exact privileged command trail, with blocked commands struck through — forensic-grade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Calibri"/>
              </a:rPr>
              <a:t>Two role-based experiences behind one login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Employee Portal — a clean action console: pick a system, choose an action, act. Risk feedback is immediate and self-explanatory: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Amber step-up MFA modal · orange “held for approval” · full-screen red BLOCK overlay with reasons.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SOC Console — single-screen situational awareness: live sessions, risk gauge, insider-type-tagged alerts, why-flagged panel, session timeline, terminal-style session replay, users×day risk heatmap, PAM access review.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Color-coded insider types (red / blue / amber); new alerts flash; every flag carries a plain-English reason for fast triage.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Professional dark SOC theme; tabular numerics; responsive; no 3D, no clutter — optimized for a control-room wall.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Accessibility: status is never colour-alone (icon + label), high-contrast surfaces, keyboard-friendly controls.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Business Potential and Relevance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Insider-driven incidents are among the costliest breach categories — one misused privileged account can expose millions of customer records and trigger regulatory penalties.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Directly supports RBI cyber-security &amp; governance expectations: least-privilege, immutable audit trails, privileged-access oversight.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Quantum-readiness aligns with global PQC migration mandates (NIST FIPS 203/204) — protects long-lived secrets and evidence today.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Expansion: PS2 transaction-fraud correlation, periodic entitlement reviews, just-in-time access, insider-risk scoring for the whole workforce.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Market: every bank, NBFC and fintech with privileged users; deployable as an internal platform or SOC-as-a-service.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Measurable value: faster mean-time-to-detect, fewer standing privileges, provable audit integrity, reduced breach exposure.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Calibri"/>
              </a:rPr>
              <a:t>From a laptop demo to a bank-wide deployment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Stateless scoring service — scale horizontally behind a load balancer; each request scores one session.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Storage: SQLite → PostgreSQL by changing one connection string (pure ORM, no raw SQL).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Real-time fan-out: WebSocket behind a Redis / Kafka broker to serve many SOC clients and high event throughput.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Ingestion generalizes to enterprise PAM/SIEM feeds (millions of privileged events/day) mapping onto the same Event schema.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ML: models retrain per role / shift nightly; a feature store holds baselines; the UEBA interface accepts an autoencoder upgrade with no app changes.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PQC operations (ML-KEM encapsulate, ML-DSA sign) are sub-millisecond — negligible next to a DB write.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Ease of Deployment and Maintenance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One command — run.ps1 (Windows) or run.sh (Linux/macOS) — creates the venv, installs deps, seeds the DB, builds/serves the UI and API, fully offline.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Container-ready: Docker + docker-compose for repeatable deploys.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Config via .env / pydantic settings; no secrets in the repo; safe defaults.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Small, modular, type-hinted codebase — one concern per module (rules, ueba, score, response, live, pam, security/*).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31 automated tests (pytest) guard detection logic, scoring bands, PQC round-trip, auth and live enforcement — safe to iterate.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PQC behind a single abstraction (app/security/pqc.py) — swap providers without touching application code.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Prebuilt front-end committed — the demo laptop needs no Node/npm at the venue.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Security Considerations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Data minimization: scores on privileged-activity metadata — no customer PII required.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Identity: PBKDF2-HMAC-SHA256 password hashing; HMAC-signed session tokens; role-gated APIs (employee vs analyst; 403 on cross-role).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Credential protection: ML-KEM-768-wrapped AES-256-GCM vault for privileged secrets (quantum-safe).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Audit integrity: hash-chained + ML-DSA-65-signed entries; tampering is cryptographically evident (proven live).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Enforcement is server-side: blocked accounts stay locked; a challenged action is not persisted until actually allowed (no score-gaming, no bypass by re-login).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Offline by design — no external calls at runtime; keys kept out of git; least-privilege demo accounts.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Compliance-friendly: explainable decisions, immutable trail, access reviews for standing/dormant/expired grants.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GitHub Repository &amp; Supporting Material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Repository:  github.com/positromen/FinSpark-26-Trial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One-command offline run (run.ps1 / run.sh); prebuilt UI committed; 31 passing tests.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In the repo: full source, DOCUMENTATION.md (with diagrams), DEMO_SCRIPT.md, this deck, Dockerfile + docker-compose.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Demo accounts (password prahari123): soc_admin (SOC), rmehta (DBA), ext_dsouza (dormant vendor / attacker), ext_rao (expired vendor / negligent). MFA code 246810.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10881360" cy="1554480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EE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0">
                <a:solidFill>
                  <a:srgbClr val="1E1E1E"/>
                </a:solidFill>
                <a:latin typeface="Calibri"/>
              </a:rPr>
              <a:t>Architecture: Privileged activity → Collection → (UEBA + Rules) → Risk score 0–100 → Adaptive response + SOC console  — all wrapped by the ML-KEM / ML-DSA post-quantum security layer.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72600" y="164592"/>
            <a:ext cx="2606040" cy="384048"/>
          </a:xfrm>
          <a:prstGeom prst="roundRect">
            <a:avLst/>
          </a:prstGeom>
          <a:solidFill>
            <a:srgbClr val="0E3C4A"/>
          </a:solidFill>
          <a:ln>
            <a:solidFill>
              <a:srgbClr val="0E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 wrap="square"/>
          <a:lstStyle/>
          <a:p>
            <a:pPr algn="ctr"/>
            <a:r>
              <a:rPr sz="1200" b="1">
                <a:solidFill>
                  <a:srgbClr val="F2C83C"/>
                </a:solidFill>
                <a:latin typeface="Calibri"/>
              </a:rPr>
              <a:t>✦  Bank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607A"/>
                </a:solidFill>
                <a:latin typeface="Calibri"/>
              </a:rPr>
              <a:t>Solution Screenshots, Video &amp; GitHub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Calibri"/>
              </a:rPr>
              <a:t>Proof the solution is functional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73152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Screenshots to include (placeholders — drop images in here):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Login · Employee Portal action console · full-screen BLOCK overlay.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SOC Console: live blocked session + insider-type-tagged CRITICAL alert + why-flagged panel.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Privileged-session recording replay (DENIED command struck through).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PAM access review (dormant / vendor / expired flags) · risk heatmap.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Calibri"/>
              </a:rPr>
              <a:t>– Audit chain VERIFIED (green) → after Tamper: FAILED (red).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Demo video:  &lt;add screen-recording link&gt;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1E1E"/>
                </a:solidFill>
                <a:latin typeface="Calibri"/>
              </a:rPr>
              <a:t>• GitHub:  github.com/positromen/FinSpark-26-Trial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74920"/>
            <a:ext cx="2560320" cy="128016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F2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606060"/>
                </a:solidFill>
                <a:latin typeface="Calibri"/>
              </a:rPr>
              <a:t>screenshot
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5074920"/>
            <a:ext cx="2560320" cy="128016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F2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606060"/>
                </a:solidFill>
                <a:latin typeface="Calibri"/>
              </a:rPr>
              <a:t>screenshot
placeholder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074920"/>
            <a:ext cx="2560320" cy="128016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F2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606060"/>
                </a:solidFill>
                <a:latin typeface="Calibri"/>
              </a:rPr>
              <a:t>screenshot
placeholder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39" y="5074920"/>
            <a:ext cx="2560320" cy="128016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F2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606060"/>
                </a:solidFill>
                <a:latin typeface="Calibri"/>
              </a:rPr>
              <a:t>screenshot
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